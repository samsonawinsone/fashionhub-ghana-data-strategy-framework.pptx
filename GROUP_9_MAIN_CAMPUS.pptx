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93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6B3F">
              <a:alpha val="8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1672590" y="345123"/>
            <a:ext cx="6229350" cy="222662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 STRATEGY FOR SCALABLE &amp; PROFITABLE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17420" y="4370069"/>
            <a:ext cx="530606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CASE STUDY: FashionHub Ghana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17420" y="4714873"/>
            <a:ext cx="5372100" cy="32003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CD1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-GHS 90K Loss to Profitable Scale Through Data</a:t>
            </a:r>
            <a:endParaRPr lang="en-US" sz="1500" dirty="0"/>
          </a:p>
        </p:txBody>
      </p:sp>
      <p:sp>
        <p:nvSpPr>
          <p:cNvPr id="8" name="Text Box 7"/>
          <p:cNvSpPr txBox="1"/>
          <p:nvPr/>
        </p:nvSpPr>
        <p:spPr>
          <a:xfrm>
            <a:off x="2470150" y="2583180"/>
            <a:ext cx="42037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b="1" u="sng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Group 9</a:t>
            </a:r>
            <a:endParaRPr lang="en-GB" altLang="en-US" b="1" u="sng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ctr">
              <a:buNone/>
            </a:pPr>
            <a:r>
              <a:rPr lang="en-US" altLang="en-GB" b="1" dirty="0">
                <a:sym typeface="+mn-ea"/>
              </a:rPr>
              <a:t>Samson Awinsone Ayamga - 11219536</a:t>
            </a:r>
            <a:endParaRPr lang="en-US" altLang="en-GB" b="1" dirty="0"/>
          </a:p>
          <a:p>
            <a:pPr marL="0" indent="0" algn="ctr">
              <a:buNone/>
            </a:pPr>
            <a:r>
              <a:rPr lang="en-US" altLang="en-GB" b="1" dirty="0">
                <a:sym typeface="+mn-ea"/>
              </a:rPr>
              <a:t>Chrappah Christabel Kabukie - 11207632</a:t>
            </a:r>
            <a:endParaRPr lang="en-US" altLang="en-GB" b="1" dirty="0"/>
          </a:p>
          <a:p>
            <a:pPr marL="0" indent="0" algn="ctr">
              <a:buNone/>
            </a:pPr>
            <a:r>
              <a:rPr lang="en-US" altLang="en-GB" b="1" dirty="0">
                <a:sym typeface="+mn-ea"/>
              </a:rPr>
              <a:t>Helina Commey - 11115880</a:t>
            </a:r>
            <a:endParaRPr lang="en-US" altLang="en-GB" b="1" dirty="0"/>
          </a:p>
          <a:p>
            <a:pPr marL="0" indent="0" algn="ctr">
              <a:buNone/>
            </a:pPr>
            <a:endParaRPr lang="en-GB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Complete Data Strategy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4" name="Text 2"/>
          <p:cNvSpPr/>
          <p:nvPr/>
        </p:nvSpPr>
        <p:spPr>
          <a:xfrm>
            <a:off x="548640" y="146304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44475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Organizational Context &amp; Strategic Objectives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7" name="Text 5"/>
          <p:cNvSpPr/>
          <p:nvPr/>
        </p:nvSpPr>
        <p:spPr>
          <a:xfrm>
            <a:off x="548640" y="187452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85623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Questions Strategy Must Answer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10" name="Text 8"/>
          <p:cNvSpPr/>
          <p:nvPr/>
        </p:nvSpPr>
        <p:spPr>
          <a:xfrm>
            <a:off x="548640" y="22860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26771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Data &amp; Analytics Maturity Assessment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13" name="Text 11"/>
          <p:cNvSpPr/>
          <p:nvPr/>
        </p:nvSpPr>
        <p:spPr>
          <a:xfrm>
            <a:off x="548640" y="269748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67919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Target Data Vision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16" name="Text 14"/>
          <p:cNvSpPr/>
          <p:nvPr/>
        </p:nvSpPr>
        <p:spPr>
          <a:xfrm>
            <a:off x="548640" y="31089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Architecture &amp; Technology Stack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19" name="Text 17"/>
          <p:cNvSpPr/>
          <p:nvPr/>
        </p:nvSpPr>
        <p:spPr>
          <a:xfrm>
            <a:off x="548640" y="352044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50215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Governance, Ethics &amp; Risk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22" name="Text 20"/>
          <p:cNvSpPr/>
          <p:nvPr/>
        </p:nvSpPr>
        <p:spPr>
          <a:xfrm>
            <a:off x="548640" y="393192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91363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Implementation Roadmap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320040" cy="32004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25" name="Text 23"/>
          <p:cNvSpPr/>
          <p:nvPr/>
        </p:nvSpPr>
        <p:spPr>
          <a:xfrm>
            <a:off x="548640" y="434340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325112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Measuring Success &amp; Strategic Impact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Organizational Context &amp;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Strategic Objectives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Meet FashionHub Ghana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86200" cy="33832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25880"/>
            <a:ext cx="3520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COMPANY PROFILE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Location: Accra, Ghana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Founder: Ama (Young Entrepreneur)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Business: Online Fashion E-Commerce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Product: Ghanaian-designed clothing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Stage: Startup (Month 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Market: Local + Diaspora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Channels: Instagram, WhatsApp, Web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977265"/>
            <a:ext cx="3886200" cy="3475990"/>
          </a:xfrm>
          <a:prstGeom prst="rect">
            <a:avLst/>
          </a:prstGeom>
          <a:solidFill>
            <a:srgbClr val="1A1A1A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11140" y="1134745"/>
            <a:ext cx="2628900" cy="511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CD1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 1 CRISIS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97780" y="1437005"/>
            <a:ext cx="2712720" cy="624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GHS 450,000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98720" y="2025650"/>
            <a:ext cx="2179320" cy="236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CD1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Revenue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2486025"/>
            <a:ext cx="36652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-GHS 90,000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41570" y="2889885"/>
            <a:ext cx="2651760" cy="2057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Loss (-20%!)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52110" y="3344545"/>
            <a:ext cx="2705100" cy="6330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500 customers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GHS 1</a:t>
            </a:r>
            <a:r>
              <a:rPr lang="en-GB" alt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 CAC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85% churn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30% delivery failure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Industry &amp; Competitive Landscape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37160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5" name="Text 3"/>
          <p:cNvSpPr/>
          <p:nvPr/>
        </p:nvSpPr>
        <p:spPr>
          <a:xfrm>
            <a:off x="731520" y="13182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 Dynamics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85.03% mobile penetration</a:t>
            </a:r>
            <a:endParaRPr lang="en-US" sz="1400" dirty="0"/>
          </a:p>
          <a:p>
            <a:pPr marL="171450" indent="-1714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Growing middle class</a:t>
            </a:r>
            <a:endParaRPr lang="en-US" sz="1400" dirty="0"/>
          </a:p>
          <a:p>
            <a:pPr marL="171450" indent="-1714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60% Cash-on-Delivery preference</a:t>
            </a:r>
            <a:endParaRPr lang="en-US" sz="1400" dirty="0"/>
          </a:p>
          <a:p>
            <a:pPr marL="171450" indent="-1714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Logistics infrastructure challenges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411480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188720"/>
            <a:ext cx="73152" cy="1371600"/>
          </a:xfrm>
          <a:prstGeom prst="rect">
            <a:avLst/>
          </a:prstGeom>
          <a:solidFill>
            <a:srgbClr val="006B3F"/>
          </a:solidFill>
        </p:spPr>
      </p:sp>
      <p:sp>
        <p:nvSpPr>
          <p:cNvPr id="9" name="Text 7"/>
          <p:cNvSpPr/>
          <p:nvPr/>
        </p:nvSpPr>
        <p:spPr>
          <a:xfrm>
            <a:off x="4846320" y="12954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Competition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657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Jumia, Tonaton (established)</a:t>
            </a:r>
            <a:endParaRPr lang="en-US" sz="14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Instagram sellers (informal)</a:t>
            </a:r>
            <a:endParaRPr lang="en-US" sz="14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Traditional retail</a:t>
            </a:r>
            <a:endParaRPr lang="en-US" sz="14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International brands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9580" y="2743200"/>
            <a:ext cx="8229600" cy="18211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Industry-Wide Challenges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Payment: Limited digital adoption, 1.5-3% transaction fees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538728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Logistics: Poor addressing, traffic, high delivery costs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85616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Trust: Returns concerns, quality fears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032504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Data &amp; Tech: Manual operations, no analytics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279392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Profitability: High CAC (GHS 1</a:t>
            </a:r>
            <a:r>
              <a:rPr lang="en-GB" alt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), low retention (10-20%)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86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Core Business Goals 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7780"/>
            <a:ext cx="822960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94360" y="1371600"/>
            <a:ext cx="411480" cy="41148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594360" y="1426464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188720" y="1371600"/>
            <a:ext cx="2506980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Achieve Profitability</a:t>
            </a: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188720" y="1627632"/>
            <a:ext cx="4572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-GHS 90K → +GHS 65K profit in 90 days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481328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+15% margin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822960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594360" y="2029968"/>
            <a:ext cx="411480" cy="41148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594360" y="2084832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1188720" y="2029968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Improve Retention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1188720" y="2286000"/>
            <a:ext cx="4572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15% through data-driven engagement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139696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45% repeat rate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596896"/>
            <a:ext cx="822960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594360" y="2688336"/>
            <a:ext cx="411480" cy="41148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594360" y="2743200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1188720" y="2688336"/>
            <a:ext cx="2506980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Optimize Operations</a:t>
            </a:r>
            <a:endParaRPr lang="en-US" sz="160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1188720" y="2944368"/>
            <a:ext cx="4572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30% failure to &lt; 8%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798064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92% delivery success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255264"/>
            <a:ext cx="822960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2" name="Shape 20"/>
          <p:cNvSpPr/>
          <p:nvPr>
            <p:custDataLst>
              <p:tags r:id="rId13"/>
            </p:custDataLst>
          </p:nvPr>
        </p:nvSpPr>
        <p:spPr>
          <a:xfrm>
            <a:off x="594360" y="3346704"/>
            <a:ext cx="411480" cy="41148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23" name="Text 21"/>
          <p:cNvSpPr/>
          <p:nvPr>
            <p:custDataLst>
              <p:tags r:id="rId14"/>
            </p:custDataLst>
          </p:nvPr>
        </p:nvSpPr>
        <p:spPr>
          <a:xfrm>
            <a:off x="594360" y="3401568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>
            <p:custDataLst>
              <p:tags r:id="rId15"/>
            </p:custDataLst>
          </p:nvPr>
        </p:nvSpPr>
        <p:spPr>
          <a:xfrm>
            <a:off x="1188720" y="3346704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Reduce CAC</a:t>
            </a:r>
            <a:endParaRPr lang="en-US" sz="1600" dirty="0"/>
          </a:p>
        </p:txBody>
      </p:sp>
      <p:sp>
        <p:nvSpPr>
          <p:cNvPr id="25" name="Text 23"/>
          <p:cNvSpPr/>
          <p:nvPr>
            <p:custDataLst>
              <p:tags r:id="rId16"/>
            </p:custDataLst>
          </p:nvPr>
        </p:nvSpPr>
        <p:spPr>
          <a:xfrm>
            <a:off x="1188720" y="3602736"/>
            <a:ext cx="4572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GHS 1</a:t>
            </a:r>
            <a:r>
              <a:rPr lang="en-GB" alt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 through targeting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456432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GHS </a:t>
            </a:r>
            <a:r>
              <a:rPr lang="en-GB" altLang="en-US" sz="14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r>
              <a:rPr lang="en-US" sz="14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 CAC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913632"/>
            <a:ext cx="822960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8" name="Shape 26"/>
          <p:cNvSpPr/>
          <p:nvPr>
            <p:custDataLst>
              <p:tags r:id="rId17"/>
            </p:custDataLst>
          </p:nvPr>
        </p:nvSpPr>
        <p:spPr>
          <a:xfrm>
            <a:off x="594360" y="4005072"/>
            <a:ext cx="411480" cy="411480"/>
          </a:xfrm>
          <a:prstGeom prst="ellipse">
            <a:avLst/>
          </a:prstGeom>
          <a:solidFill>
            <a:srgbClr val="C8102E"/>
          </a:solidFill>
        </p:spPr>
      </p:sp>
      <p:sp>
        <p:nvSpPr>
          <p:cNvPr id="29" name="Text 27"/>
          <p:cNvSpPr/>
          <p:nvPr>
            <p:custDataLst>
              <p:tags r:id="rId18"/>
            </p:custDataLst>
          </p:nvPr>
        </p:nvSpPr>
        <p:spPr>
          <a:xfrm>
            <a:off x="594360" y="4059936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2800" dirty="0"/>
          </a:p>
        </p:txBody>
      </p:sp>
      <p:sp>
        <p:nvSpPr>
          <p:cNvPr id="30" name="Text 28"/>
          <p:cNvSpPr/>
          <p:nvPr>
            <p:custDataLst>
              <p:tags r:id="rId19"/>
            </p:custDataLst>
          </p:nvPr>
        </p:nvSpPr>
        <p:spPr>
          <a:xfrm>
            <a:off x="1188720" y="4005072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 Data Culture</a:t>
            </a:r>
            <a:endParaRPr lang="en-US" sz="1600" dirty="0"/>
          </a:p>
        </p:txBody>
      </p:sp>
      <p:sp>
        <p:nvSpPr>
          <p:cNvPr id="31" name="Text 29"/>
          <p:cNvSpPr/>
          <p:nvPr>
            <p:custDataLst>
              <p:tags r:id="rId20"/>
            </p:custDataLst>
          </p:nvPr>
        </p:nvSpPr>
        <p:spPr>
          <a:xfrm>
            <a:off x="1188720" y="4261104"/>
            <a:ext cx="4572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guesswork to evidence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4114800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 data-backed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D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Key Strategic Focus (Vision)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7315200" cy="2377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73736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64008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"Transform FashionHub from a </a:t>
            </a:r>
            <a:r>
              <a:rPr lang="en-US" sz="16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growth-at-all-costs startup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into a </a:t>
            </a:r>
            <a:r>
              <a:rPr lang="en-US" sz="1600" b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sustainably profitable, data-driven business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that delights customers, optimizes operations,  and scales intelligently."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Strategic Shift: Move Fast &amp; Break Things → Move Smart &amp; Build Value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Business Questions the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Strategy Must Answer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Critical Decisions Currently Made Poorly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3258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98448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customers to prioritize?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What's LTV by segment?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]Why 85% never return?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114800" cy="13258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298448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57276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products are profitable?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84708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to stock/discontinue?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212140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to price optimally?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4114800" cy="13258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807208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08152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channels have best ROI?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35584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 GHS 1</a:t>
            </a:r>
            <a:r>
              <a:rPr lang="en-GB" alt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 CAC justified?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63016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to allocate budget?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697480"/>
            <a:ext cx="4114800" cy="13258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2807208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308152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30% delivery failure?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35584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areas to avoid?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63016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to reduce costs?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Strategic vs Operational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5" name="Text 3"/>
          <p:cNvSpPr/>
          <p:nvPr/>
        </p:nvSpPr>
        <p:spPr>
          <a:xfrm>
            <a:off x="457200" y="132588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STRATEGIC (Long-term)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Expand to new cities?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 target segment profitable?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Own vs 3rd party logistics?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Model changes for profit?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Best product categories?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053840"/>
            <a:ext cx="3749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Needs: Trend analysis, cohorts, predictive models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4114800" cy="3291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solidFill>
            <a:srgbClr val="006B3F"/>
          </a:solidFill>
        </p:spPr>
      </p:sp>
      <p:sp>
        <p:nvSpPr>
          <p:cNvPr id="14" name="Text 12"/>
          <p:cNvSpPr/>
          <p:nvPr/>
        </p:nvSpPr>
        <p:spPr>
          <a:xfrm>
            <a:off x="4572000" y="132588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OPERATIONAL (Day-to-day)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54880" y="182880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Orders to deliver today?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14884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Abandoned carts to contact?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46888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Low inventory items?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78892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Failed deliveries to reschedule?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1089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Today's cash position?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4084320"/>
            <a:ext cx="4114800" cy="121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i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Needs: Real-time dashboards, alerts, transactional reports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Short-Term vs Long-Term Information Needs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86200" cy="32918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2626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SHORT-TERM (0-3 months)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20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STOP THE BLEEDING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Daily P&amp;L by product/channel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Delivery failure patterns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478024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Payment method costs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734056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High-value customers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2990088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Order bottlenecks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Quick cost wins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00600" y="1188720"/>
            <a:ext cx="3886200" cy="32918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371600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LONG-TERM (6-18 months)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83480" y="1645920"/>
            <a:ext cx="3520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BUILD FOR SCALE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66360" y="1965960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 LTV prediction models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66360" y="2221992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 Churn risk scoring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66360" y="2478024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 Market expansion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66360" y="2734056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 Supply chain optimization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66360" y="2990088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 Competitive analytics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66360" y="3246120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 New revenue streams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Current Data &amp; Analytics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Maturity Assessment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Data Sources (Internal &amp; External)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3832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4968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INTERNAL SOURCES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WhatsApp Orders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385060" y="173736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Unstructured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02380" y="174498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Poor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Payments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385060" y="201168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Manual sheets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49040" y="1920240"/>
            <a:ext cx="731520" cy="2819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Medium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Deliveries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54580" y="228600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Incomplete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02380" y="228600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Poor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Customers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339340" y="256032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Basic only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94760" y="2560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283464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Inventory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377440" y="283464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 system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02380" y="283464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Financials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377440" y="310896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Monthly only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825240" y="310896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4198620"/>
            <a:ext cx="3749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Status: Fragmented, manual, unreliable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1148715"/>
            <a:ext cx="4114800" cy="33832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25730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EXTERNAL SOURCES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37760" y="1737360"/>
            <a:ext cx="1615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Social Media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92240" y="173736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Instagram only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806690" y="1584960"/>
            <a:ext cx="788670" cy="335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Limited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37760" y="2011680"/>
            <a:ext cx="1615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Market Research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92240" y="201168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Not accessed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818120" y="2011680"/>
            <a:ext cx="609600" cy="1314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937760" y="2286000"/>
            <a:ext cx="1615440" cy="152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Competitor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92240" y="228600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 monitoring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825740" y="2286000"/>
            <a:ext cx="609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937760" y="256032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Economic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92240" y="256032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Not tracked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833360" y="2545080"/>
            <a:ext cx="60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937760" y="283464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Reviews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92240" y="283464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Scattered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833360" y="2857500"/>
            <a:ext cx="609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937760" y="310896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Benchmarks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492240" y="310896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Unknown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833360" y="3147061"/>
            <a:ext cx="548640" cy="11430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846320" y="4198620"/>
            <a:ext cx="3749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Status: Minimal external data use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Data Quality Issues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22377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Incomplete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444752"/>
            <a:ext cx="5029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Missing/wrong addresses → 30% delivery fails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0" y="1298448"/>
            <a:ext cx="1005840" cy="22860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8" name="Text 6"/>
          <p:cNvSpPr/>
          <p:nvPr/>
        </p:nvSpPr>
        <p:spPr>
          <a:xfrm>
            <a:off x="7406640" y="1316736"/>
            <a:ext cx="1005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HIGH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457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81051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1761744"/>
            <a:ext cx="17449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Inconsistent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975104"/>
            <a:ext cx="5029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names/prices vary across channels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828800"/>
            <a:ext cx="1005840" cy="228600"/>
          </a:xfrm>
          <a:prstGeom prst="rect">
            <a:avLst/>
          </a:prstGeom>
          <a:solidFill>
            <a:srgbClr val="FCD116"/>
          </a:solidFill>
        </p:spPr>
      </p:sp>
      <p:sp>
        <p:nvSpPr>
          <p:cNvPr id="14" name="Text 12"/>
          <p:cNvSpPr/>
          <p:nvPr/>
        </p:nvSpPr>
        <p:spPr>
          <a:xfrm>
            <a:off x="7406640" y="1847088"/>
            <a:ext cx="1005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49424"/>
            <a:ext cx="8229600" cy="457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340864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2284476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Inaccurate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505456"/>
            <a:ext cx="5029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 entry errors in payments, inventory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2359152"/>
            <a:ext cx="1005840" cy="22860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0" name="Text 18"/>
          <p:cNvSpPr/>
          <p:nvPr/>
        </p:nvSpPr>
        <p:spPr>
          <a:xfrm>
            <a:off x="7406640" y="2377440"/>
            <a:ext cx="1005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HIGH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79776"/>
            <a:ext cx="8229600" cy="457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2871216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1560" y="2837688"/>
            <a:ext cx="1607820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Inaccessible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3035808"/>
            <a:ext cx="5029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locked in WhatsApp, phones, paper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2889504"/>
            <a:ext cx="1005840" cy="22860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26" name="Text 24"/>
          <p:cNvSpPr/>
          <p:nvPr/>
        </p:nvSpPr>
        <p:spPr>
          <a:xfrm>
            <a:off x="7406640" y="2907792"/>
            <a:ext cx="1005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310128"/>
            <a:ext cx="8229600" cy="457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340156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51560" y="336042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Untimely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3566160"/>
            <a:ext cx="5029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reports only, no real-time view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06640" y="3419856"/>
            <a:ext cx="1005840" cy="22860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2" name="Text 30"/>
          <p:cNvSpPr/>
          <p:nvPr/>
        </p:nvSpPr>
        <p:spPr>
          <a:xfrm>
            <a:off x="7406640" y="3438144"/>
            <a:ext cx="1005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HIGH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39319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51560" y="38831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Ungoverned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51560" y="4096512"/>
            <a:ext cx="5029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ownership, validation, audit trail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06640" y="3950208"/>
            <a:ext cx="1005840" cy="22860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38" name="Text 36"/>
          <p:cNvSpPr/>
          <p:nvPr/>
        </p:nvSpPr>
        <p:spPr>
          <a:xfrm>
            <a:off x="7406640" y="3968496"/>
            <a:ext cx="1005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CRITICAL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Existing Tools &amp; Skills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3832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801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CURRENT TOOLS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WhatsApp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194560" y="173736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Orders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83280" y="173736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Not scalable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Excel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94560" y="201168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Financials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Manual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Instagram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94560" y="228600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Marketing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Working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Mobile Money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94560" y="256032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Payments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83280" y="256032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High fees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283464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 CRM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194560" y="283464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Customers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83280" y="283464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Critical gap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 Analytics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194560" y="310896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83280" y="310896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Critical gap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0" y="1097280"/>
            <a:ext cx="4114800" cy="33832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25730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TEAM SKILLS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173736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92240" y="173736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Beginner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98080" y="173736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★☆☆☆☆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37760" y="201168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Excel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92240" y="201168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Basic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98080" y="201168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★★☆☆☆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937760" y="228600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E-commerce Ops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92240" y="228600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Learning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98080" y="228600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★★☆☆☆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937760" y="256032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Marketing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92240" y="256032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Intermediate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498080" y="256032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★★★☆☆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37760" y="283464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Customer Service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92240" y="283464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Good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498080" y="283464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★★★★☆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937760" y="310896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Technical/IT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92240" y="310896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498080" y="310896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11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☆☆☆☆☆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Data Maturity Level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Descriptive → Diagnostic → Predictive → Prescriptive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594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6420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1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Descriptive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0" y="169164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What happened?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0" y="1719072"/>
            <a:ext cx="2103120" cy="25603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9" name="Text 7"/>
          <p:cNvSpPr/>
          <p:nvPr/>
        </p:nvSpPr>
        <p:spPr>
          <a:xfrm>
            <a:off x="6400800" y="1737360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CURRENT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CD116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8720" y="23774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Diagnostic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0" y="237744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Why?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2404872"/>
            <a:ext cx="2103120" cy="256032"/>
          </a:xfrm>
          <a:prstGeom prst="rect">
            <a:avLst/>
          </a:prstGeom>
          <a:solidFill>
            <a:srgbClr val="FCD116"/>
          </a:solidFill>
        </p:spPr>
      </p:sp>
      <p:sp>
        <p:nvSpPr>
          <p:cNvPr id="15" name="Text 13"/>
          <p:cNvSpPr/>
          <p:nvPr/>
        </p:nvSpPr>
        <p:spPr>
          <a:xfrm>
            <a:off x="6400800" y="2423160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Target: 6mo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03580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3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88720" y="30632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Predictive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00400" y="306324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What will happen?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3090672"/>
            <a:ext cx="2103120" cy="25603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1" name="Text 19"/>
          <p:cNvSpPr/>
          <p:nvPr/>
        </p:nvSpPr>
        <p:spPr>
          <a:xfrm>
            <a:off x="6400800" y="3108960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Target: 12mo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72160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4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88720" y="37490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Prescriptive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00400" y="374904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What to do?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3776472"/>
            <a:ext cx="2103120" cy="256032"/>
          </a:xfrm>
          <a:prstGeom prst="rect">
            <a:avLst/>
          </a:prstGeom>
          <a:solidFill>
            <a:srgbClr val="006B3F"/>
          </a:solidFill>
        </p:spPr>
      </p:sp>
      <p:sp>
        <p:nvSpPr>
          <p:cNvPr id="27" name="Text 25"/>
          <p:cNvSpPr/>
          <p:nvPr/>
        </p:nvSpPr>
        <p:spPr>
          <a:xfrm>
            <a:off x="6400800" y="3794760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Target: 18mo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29" name="Text 27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Current: Level 1 — Basic reporting only, no insights, reactive decisions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Target Data Vision</a:t>
            </a:r>
            <a:endParaRPr 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 What "Data-Driven" Means for FashionHub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88720" y="1371600"/>
            <a:ext cx="6766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DATA-DRIVEN ORGANIZATION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1828800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Every decision informed by data, not gut feelings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2121408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Real-time visibility into business (daily P&amp;L, KPIs)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2414016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Customer behavior understood (segmentation, analytics)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2706624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Operations optimized (routes, inventory, pricing)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8720" y="2999232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Marketing spend based on measured ROI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8720" y="3291840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Predictive insights guide proactive actions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3584448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A/B testing culture: measure, learn, iterate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8720" y="3877056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quality embedded in all processes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8720" y="4169664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Team trained and empowered to use data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 Key Outcomes Enabled by Data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Profitability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468880" y="128016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-GHS 90K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23360" y="12801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89120" y="128016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+GHS 65K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0" y="128016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Cost cuts + retention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47548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810512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Retention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68880" y="181051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15% repeat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23360" y="181051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0" y="181051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45% repeat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35040" y="1810512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LTV segmentation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249424"/>
            <a:ext cx="8229600" cy="47548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340864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Operations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468880" y="2340864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30% fail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23360" y="2340864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89120" y="2340864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8% fail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35040" y="2340864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Address + routing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2779776"/>
            <a:ext cx="8229600" cy="47548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2871216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CAC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68880" y="2871216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GHS 1</a:t>
            </a:r>
            <a:r>
              <a:rPr lang="en-GB" alt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2</a:t>
            </a:r>
            <a:r>
              <a:rPr 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23360" y="2871216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389120" y="2871216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GHS </a:t>
            </a:r>
            <a:r>
              <a:rPr lang="en-GB" altLang="en-US" sz="12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80</a:t>
            </a:r>
          </a:p>
        </p:txBody>
      </p:sp>
      <p:sp>
        <p:nvSpPr>
          <p:cNvPr id="26" name="Text 24"/>
          <p:cNvSpPr/>
          <p:nvPr/>
        </p:nvSpPr>
        <p:spPr>
          <a:xfrm>
            <a:off x="6035040" y="2871216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Attribution + targeting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3310128"/>
            <a:ext cx="8229600" cy="47548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3401568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Time Savings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468880" y="340156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GB" alt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167 </a:t>
            </a:r>
            <a:r>
              <a:rPr 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hrs/mo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023360" y="340156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389120" y="3401568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40 hrs/mo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35040" y="3401568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Automation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8229600" cy="47548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393192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Speed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468880" y="393192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Monthly reports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023360" y="39319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389120" y="393192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Real-time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035040" y="3931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Live dashboards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Success Metrics for Data Strategy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5544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BUSINESS IMPACT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Monthly profit: -20% → +15%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883664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LTV tracked by segment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Repeat rate: 15% → 45%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CAC payback: &lt;6 months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114800" cy="15544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2801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DATA MATURITY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Quality: &lt;20% → &gt;85%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883664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Real-time: 0% → 90%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2121408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Data decisions: 10% → 80%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37760" y="2359152"/>
            <a:ext cx="3566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Tool adoption: 0% → 95%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OPERATIONAL EFFICIENCY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342900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Delivery success: 70% → 92%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3666744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Order processing: </a:t>
            </a:r>
            <a:r>
              <a:rPr lang="en-GB" alt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20</a:t>
            </a: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min → 5 min per order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390448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Manual work: </a:t>
            </a:r>
            <a:r>
              <a:rPr lang="en-GB" alt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167</a:t>
            </a: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hrs → 40 hrs/month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4142232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Payment costs: GHS 6,750 → GHS 2,000/month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 Architecture &amp;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Technology Stack</a:t>
            </a:r>
            <a:endParaRPr lang="en-US" sz="4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41148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 Conceptual Data Architecture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Four-Layer Design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72768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LAYER 1: DATA SOURCES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E-commerce • Payments • Delivery • WhatsApp • Social • Web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50008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LAYER 2: STORAGE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Cloud warehouse (BigQuery) • Centralized • Historical retention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27248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LAYER 3: PROCESSING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ETL • Cleaning • Transformation • ML training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904488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116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LAYER 4: CONSUMPTION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Dashboards • Mobile reports • Alerts • APIs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1605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Technology Stack (Conceptual)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Affordable Tools for Ghana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640080" y="1453896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E-Commerce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453896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Shopify/WooCommerce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77840" y="1453896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$30/mo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0" y="1453896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46504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746504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Google Analytics 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1746504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1746504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02536"/>
            <a:ext cx="82296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640080" y="2039112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039112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HubSpot/Zoho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2039112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$20/mo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2039112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331720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Delivery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2331720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Kwik/Sendbox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331720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$50/mo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2331720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587752"/>
            <a:ext cx="82296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640080" y="2624328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Payments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2624328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Paystack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262432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1.95%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2624328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2916936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68880" y="2916936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BigQuery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2916936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916936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172968"/>
            <a:ext cx="82296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640080" y="3209544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68880" y="3209544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Looker Studio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3209544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3209544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3502152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WhatsApp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68880" y="3502152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Twilio API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77840" y="3502152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32320" y="3502152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758184"/>
            <a:ext cx="82296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640080" y="3794760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ETL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468880" y="3794760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Zapier/Make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77840" y="3794760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$30/mo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32320" y="3794760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4087368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468880" y="4087368"/>
            <a:ext cx="2926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Tidio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77840" y="408736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$20/mo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132320" y="4087368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M3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solidFill>
            <a:srgbClr val="006B3F"/>
          </a:solidFill>
        </p:spPr>
      </p:sp>
      <p:sp>
        <p:nvSpPr>
          <p:cNvPr id="50" name="Text 48"/>
          <p:cNvSpPr/>
          <p:nvPr/>
        </p:nvSpPr>
        <p:spPr>
          <a:xfrm>
            <a:off x="640080" y="4572000"/>
            <a:ext cx="7863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Total: ~$150/month + transaction fees ≈ $200/month total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Integration Considerations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21208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07008"/>
            <a:ext cx="21717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E-comm ↔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933700" y="1170432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behavior, conversions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760720" y="1170432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GA4 integration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20724"/>
            <a:ext cx="146304" cy="146304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8" name="Shape 6"/>
          <p:cNvSpPr/>
          <p:nvPr/>
        </p:nvSpPr>
        <p:spPr>
          <a:xfrm>
            <a:off x="457200" y="1673352"/>
            <a:ext cx="8229600" cy="521208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746504"/>
            <a:ext cx="2011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E-comm ↔ CRM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71800" y="1746504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Unified customer view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60720" y="1746504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API sync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1773936"/>
            <a:ext cx="146304" cy="146304"/>
          </a:xfrm>
          <a:prstGeom prst="ellipse">
            <a:avLst/>
          </a:prstGeom>
          <a:solidFill>
            <a:srgbClr val="DC2626"/>
          </a:solidFill>
        </p:spPr>
        <p:txBody>
          <a:bodyPr/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249424"/>
            <a:ext cx="8229600" cy="521208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322576"/>
            <a:ext cx="2011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Orders ↔ Delivery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32760" y="2322576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Automated fulfillment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0720" y="2322576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Webhooks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2359152"/>
            <a:ext cx="146304" cy="146304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18" name="Shape 16"/>
          <p:cNvSpPr/>
          <p:nvPr/>
        </p:nvSpPr>
        <p:spPr>
          <a:xfrm>
            <a:off x="449580" y="2825496"/>
            <a:ext cx="8229600" cy="521208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89864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Payment ↔ Accounting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040380" y="2898648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Reconciliation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60720" y="2898648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API integration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6928" y="2913888"/>
            <a:ext cx="146304" cy="146304"/>
          </a:xfrm>
          <a:prstGeom prst="ellipse">
            <a:avLst/>
          </a:prstGeom>
          <a:solidFill>
            <a:srgbClr val="FCD116"/>
          </a:solidFill>
        </p:spPr>
      </p:sp>
      <p:sp>
        <p:nvSpPr>
          <p:cNvPr id="23" name="Shape 21"/>
          <p:cNvSpPr/>
          <p:nvPr/>
        </p:nvSpPr>
        <p:spPr>
          <a:xfrm>
            <a:off x="457200" y="3401568"/>
            <a:ext cx="8229600" cy="521208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474720"/>
            <a:ext cx="21107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All → Warehouse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048000" y="347472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Centralized reporting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60720" y="34747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ETL pipelines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48640" y="3479292"/>
            <a:ext cx="146304" cy="146304"/>
          </a:xfrm>
          <a:prstGeom prst="ellipse">
            <a:avLst/>
          </a:prstGeom>
          <a:solidFill>
            <a:srgbClr val="FCD116"/>
          </a:solidFill>
        </p:spPr>
      </p:sp>
      <p:sp>
        <p:nvSpPr>
          <p:cNvPr id="28" name="Shape 26"/>
          <p:cNvSpPr/>
          <p:nvPr/>
        </p:nvSpPr>
        <p:spPr>
          <a:xfrm>
            <a:off x="457200" y="3977640"/>
            <a:ext cx="8229600" cy="521208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4050792"/>
            <a:ext cx="21107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WhatsApp ↔ CRM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055620" y="4050792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Conversation history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60720" y="4050792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Business API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" y="4069080"/>
            <a:ext cx="146304" cy="146304"/>
          </a:xfrm>
          <a:prstGeom prst="ellipse">
            <a:avLst/>
          </a:prstGeom>
          <a:solidFill>
            <a:srgbClr val="FCD116"/>
          </a:solid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 Governance,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Ethics &amp; Risk</a:t>
            </a:r>
            <a:endParaRPr lang="en-US" sz="4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 Data Ownership &amp; Stewardship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344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DATA GOVERNANCE FRAMEWORK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Owner (Ama)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91840" y="173736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Accountable for data strategy, privacy compliance, budget decisions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Steward (Ops Manager)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91840" y="219456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Quality assurance, access control, documentation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Users (Team)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91840" y="265176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Follow guidelines, report issues, request access formally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305181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Tech Partner (External)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91840" y="300609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Infrastructure, security, backups, integrations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7498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Key Policies: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Access Control: Role-based permissions, audit logs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Retention: 7 years financial, 3 years operational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418338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Change Management: All schema changes documented and approved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940" y="420624"/>
            <a:ext cx="8686800" cy="5394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 Privacy, Regulatory &amp; Ethical Considerations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PRIVACY &amp; REGULATORY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Ghana Data Protection Act 2012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Customer consent for marketing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157984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Right to access/delete data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414016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Payment card industry (PCI) for cards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11480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2801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ETHICAL PRINCIPLES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Transparency: Customers know data use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901952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Fairness: No discriminatory pricing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2157984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Security: Encrypted data at rest/transit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37760" y="2414016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Accountability: Clear responsibility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891790"/>
            <a:ext cx="8229600" cy="15544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035808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KEY COMPLIANCE ACTIONS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3360420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1. Privacy policy published on website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3568446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2. Customer consent checkboxes for marketing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3762756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3. Encrypted connections (SSL/TLS) for all systems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3941064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4. Regular security audits (quarterly)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4112514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5. Staff training on data protection (monthly)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 Risk Mitigation Strategies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07008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Breach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651760" y="1207008"/>
            <a:ext cx="731520" cy="18288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6" name="Text 4"/>
          <p:cNvSpPr/>
          <p:nvPr/>
        </p:nvSpPr>
        <p:spPr>
          <a:xfrm>
            <a:off x="2651760" y="1216152"/>
            <a:ext cx="7315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HIGH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566160" y="1207008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Encryption, access controls, security audits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801368"/>
            <a:ext cx="2179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System Downtime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51760" y="1801368"/>
            <a:ext cx="731520" cy="18288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1" name="Text 9"/>
          <p:cNvSpPr/>
          <p:nvPr/>
        </p:nvSpPr>
        <p:spPr>
          <a:xfrm>
            <a:off x="2651760" y="1810512"/>
            <a:ext cx="7315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HIGH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66160" y="1801368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Cloud redundancy, daily backups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395728"/>
            <a:ext cx="20650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Poor Data Quality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51760" y="2395728"/>
            <a:ext cx="731520" cy="182880"/>
          </a:xfrm>
          <a:prstGeom prst="rect">
            <a:avLst/>
          </a:prstGeom>
          <a:solidFill>
            <a:srgbClr val="FCD116"/>
          </a:solidFill>
        </p:spPr>
      </p:sp>
      <p:sp>
        <p:nvSpPr>
          <p:cNvPr id="16" name="Text 14"/>
          <p:cNvSpPr/>
          <p:nvPr/>
        </p:nvSpPr>
        <p:spPr>
          <a:xfrm>
            <a:off x="2651760" y="2404872"/>
            <a:ext cx="7315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66160" y="2395728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Validation rules, automated checks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825" y="2880360"/>
            <a:ext cx="8229600" cy="5486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990088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Staff Resistance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651760" y="2990088"/>
            <a:ext cx="731520" cy="182880"/>
          </a:xfrm>
          <a:prstGeom prst="rect">
            <a:avLst/>
          </a:prstGeom>
          <a:solidFill>
            <a:srgbClr val="FCD116"/>
          </a:solidFill>
        </p:spPr>
      </p:sp>
      <p:sp>
        <p:nvSpPr>
          <p:cNvPr id="21" name="Text 19"/>
          <p:cNvSpPr/>
          <p:nvPr/>
        </p:nvSpPr>
        <p:spPr>
          <a:xfrm>
            <a:off x="2651760" y="2999232"/>
            <a:ext cx="7315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566160" y="2990088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Change management, training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584448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Vendor Lock-in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651760" y="3584448"/>
            <a:ext cx="731520" cy="182880"/>
          </a:xfrm>
          <a:prstGeom prst="rect">
            <a:avLst/>
          </a:prstGeom>
          <a:solidFill>
            <a:srgbClr val="006B3F"/>
          </a:solidFill>
        </p:spPr>
      </p:sp>
      <p:sp>
        <p:nvSpPr>
          <p:cNvPr id="26" name="Text 24"/>
          <p:cNvSpPr/>
          <p:nvPr/>
        </p:nvSpPr>
        <p:spPr>
          <a:xfrm>
            <a:off x="2651760" y="3593592"/>
            <a:ext cx="7315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LOW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566160" y="3584448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Open standards, export capabilities, multi-cloud strategy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4178808"/>
            <a:ext cx="189738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Cost Overruns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651760" y="4178808"/>
            <a:ext cx="731520" cy="182880"/>
          </a:xfrm>
          <a:prstGeom prst="rect">
            <a:avLst/>
          </a:prstGeom>
          <a:solidFill>
            <a:srgbClr val="FCD116"/>
          </a:solidFill>
        </p:spPr>
      </p:sp>
      <p:sp>
        <p:nvSpPr>
          <p:cNvPr id="31" name="Text 29"/>
          <p:cNvSpPr/>
          <p:nvPr/>
        </p:nvSpPr>
        <p:spPr>
          <a:xfrm>
            <a:off x="2651760" y="4187952"/>
            <a:ext cx="7315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566160" y="4178808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Monthly budget reviews, usage alerts, optimize queries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Implementation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Roadmap</a:t>
            </a:r>
            <a:endParaRPr lang="en-US" sz="4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BC0271-0438-B695-5D7E-DFDACEB863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41" r="1778" b="2963"/>
          <a:stretch>
            <a:fillRect/>
          </a:stretch>
        </p:blipFill>
        <p:spPr>
          <a:xfrm>
            <a:off x="678181" y="98845"/>
            <a:ext cx="7406640" cy="50446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Key Milestones, Dependencies &amp; Risks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74420"/>
            <a:ext cx="4114800" cy="3291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5815" y="125095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KEY MILESTONES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2479" y="1645919"/>
            <a:ext cx="913765" cy="18288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Week 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37360" y="164592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E-commerce platform live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85495" y="1920240"/>
            <a:ext cx="913765" cy="1143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Week 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37360" y="192024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First automated campaign sent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5495" y="2194560"/>
            <a:ext cx="913765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Week 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37360" y="219456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Daily dashboard operational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875" y="2478404"/>
            <a:ext cx="913765" cy="1733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Week 8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37360" y="246888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Delivery success &gt;80%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2955" y="2700655"/>
            <a:ext cx="931545" cy="2025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Week 10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37360" y="274320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Repeat rate &gt;30%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2954" y="2974975"/>
            <a:ext cx="931545" cy="2254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Week 12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37360" y="3017520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Monthly profitability achieved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4114800" cy="15544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2801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DEPENDENCIES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 Budget approval: GHS 2,500/mo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37760" y="1883664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 Tech partner hired by Week 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2121408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 Team availability: 10 hrs/week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7760" y="2359152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 Customer data access granted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0" y="2788920"/>
            <a:ext cx="4114800" cy="1600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297180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2626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IMPLEMENTATION RISKS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3337560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Staff training time underestimated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37760" y="3575304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Tool integration more complex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37760" y="3813048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Customer resistance to changes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37760" y="4050792"/>
            <a:ext cx="35661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Budget constraints if sales dip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Measuring Success &amp;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Strategic Impact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 KPIs for Data Maturity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How We'll Measure Data Strategy Progress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81328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Quality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Completeness: &lt; 20% → &gt;90%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984248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Accuracy: Manual errors → &lt;8%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185416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Timeliness: Monthly → Real-time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8229600" cy="91440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468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Usage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770632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Decisions data-backed: 10% → 80%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2971800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Tool adoption: 0% → 95%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3172968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Report usage: 0 → 50 views/day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456432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Capabilities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3758184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Maturity: Level 1 → Level 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3959352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Team skills:</a:t>
            </a:r>
            <a:r>
              <a:rPr lang="en-GB" alt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1★ → 3★ (Beginner to Competent)</a:t>
            </a:r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7498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Process automation: 0% → 80%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862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Business Impact Metrics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The Bottom Line: Financial &amp; Operational Results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METRIC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108960" y="155448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BASELINE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37760" y="155448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TARGET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554480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9488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0" name="Text 8"/>
          <p:cNvSpPr/>
          <p:nvPr/>
        </p:nvSpPr>
        <p:spPr>
          <a:xfrm>
            <a:off x="640080" y="187452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Monthly Profit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108960" y="187452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-GHS 90,000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+GHS 65,000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6560" y="187452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weekly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14884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Repeat Purchase Rate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08960" y="214884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15%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60" y="214884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45%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66560" y="214884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monthly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9" name="Text 17"/>
          <p:cNvSpPr/>
          <p:nvPr/>
        </p:nvSpPr>
        <p:spPr>
          <a:xfrm>
            <a:off x="640080" y="242316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Delivery Success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108960" y="242316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70%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242316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92%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66560" y="242316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daily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269748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Customer Acquisition Cost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108960" y="269748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GHS 1</a:t>
            </a:r>
            <a:r>
              <a:rPr lang="en-GB" alt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269748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GHS </a:t>
            </a:r>
            <a:r>
              <a:rPr lang="en-GB" alt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80</a:t>
            </a:r>
          </a:p>
        </p:txBody>
      </p:sp>
      <p:sp>
        <p:nvSpPr>
          <p:cNvPr id="26" name="Text 24"/>
          <p:cNvSpPr/>
          <p:nvPr/>
        </p:nvSpPr>
        <p:spPr>
          <a:xfrm>
            <a:off x="6766560" y="269748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weekly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8" name="Text 26"/>
          <p:cNvSpPr/>
          <p:nvPr/>
        </p:nvSpPr>
        <p:spPr>
          <a:xfrm>
            <a:off x="640080" y="297180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Order Processing Time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108960" y="29718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30 min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937760" y="29718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5 min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66560" y="297180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daily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324612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Customer Lifetime Value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108960" y="324612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Unknown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937760" y="324612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GHS 1,200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766560" y="324612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monthly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7" name="Text 35"/>
          <p:cNvSpPr/>
          <p:nvPr/>
        </p:nvSpPr>
        <p:spPr>
          <a:xfrm>
            <a:off x="640080" y="352044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Manual Work Hours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108960" y="352044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alt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167 </a:t>
            </a: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hrs/mo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937760" y="352044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40 hrs/mo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766560" y="352044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monthly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0080" y="379476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Payment Processing Cost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108960" y="379476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GHS 6,750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937760" y="379476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GHS 2,000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766560" y="3794760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Track monthly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956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Review &amp; Feedback Mechanism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Continuous Improvement Cycle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10896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9620" y="153924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REVIEW CADENCE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Daily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20240" y="196596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Key metrics dashboard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97580" y="1943100"/>
            <a:ext cx="1143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Ama &amp; Ops Mgr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Weekly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920240" y="230886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Progress vs targets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09010" y="2286000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Full team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2674620"/>
            <a:ext cx="1005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Monthly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20240" y="27432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Business review + adjustments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97580" y="2705100"/>
            <a:ext cx="130302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Ama &amp; stakeholders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307086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Quarterly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920240" y="307086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Strategy review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09010" y="3078480"/>
            <a:ext cx="1143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Board/advisors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0" y="1371600"/>
            <a:ext cx="4114800" cy="3108960"/>
          </a:xfrm>
          <a:prstGeom prst="rect">
            <a:avLst/>
          </a:prstGeom>
          <a:solidFill>
            <a:srgbClr val="F5F5F5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53162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6B3F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FEEDBACK LOOPS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37760" y="196596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Team surveys: Monthly pulse checks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224028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Customer feedback: NPS tracking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7760" y="251460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Data quality audits: Bi-weekly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37760" y="278892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Tool usage analytics: Automated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37760" y="306324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Incident reports: As needed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333756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✓ Success stories: Share wins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7" name="Text 25"/>
          <p:cNvSpPr/>
          <p:nvPr/>
        </p:nvSpPr>
        <p:spPr>
          <a:xfrm>
            <a:off x="640080" y="4754880"/>
            <a:ext cx="7863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Success = Business goals achieved + Data capabilities matured + Team empowered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D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1A1A"/>
                </a:solidFill>
                <a:latin typeface="Times New Roman" panose="02020603050405020304" pitchFamily="18" charset="0"/>
                <a:ea typeface="Arial Black" panose="020B0A04020102020204" pitchFamily="34" charset="-122"/>
                <a:cs typeface="Times New Roman" panose="02020603050405020304" pitchFamily="18" charset="0"/>
              </a:rPr>
              <a:t>The Path Forward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2560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9202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FROM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0" y="19202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-GHS 90K monthly loss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06240" y="23774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0" y="23774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+GHS 65K monthly profit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26974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85% customer churn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06240" y="269748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0" y="26974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45% repeat purchase rate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71600" y="3017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30% delivery failure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06240" y="301752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92% delivery success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Manual, guesswork decisions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206240" y="333756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0" y="33375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Data-driven, automated operations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71600" y="36576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No visibility, no control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06240" y="365760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A3A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→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0" y="36576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B3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Real-time insights, proactive management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C8102E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Strategy = Competitive Advantage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6B3F">
              <a:alpha val="85000"/>
            </a:srgbClr>
          </a:solidFill>
        </p:spPr>
        <p:txBody>
          <a:bodyPr/>
          <a:lstStyle/>
          <a:p>
            <a:endParaRPr lang="en-GH" dirty="0"/>
          </a:p>
        </p:txBody>
      </p:sp>
      <p:sp>
        <p:nvSpPr>
          <p:cNvPr id="3" name="Text 1"/>
          <p:cNvSpPr/>
          <p:nvPr/>
        </p:nvSpPr>
        <p:spPr>
          <a:xfrm>
            <a:off x="457200" y="184023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THA</a:t>
            </a:r>
            <a:r>
              <a:rPr lang="en-US" sz="5600" b="1" dirty="0">
                <a:solidFill>
                  <a:srgbClr val="FFFF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NK</a:t>
            </a:r>
            <a:r>
              <a:rPr lang="en-US" sz="5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Y</a:t>
            </a:r>
            <a:r>
              <a:rPr lang="en-US" sz="5600" b="1" dirty="0">
                <a:solidFill>
                  <a:srgbClr val="00B05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OU</a:t>
            </a:r>
            <a:r>
              <a:rPr lang="en-US" sz="5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92,&quot;left&quot;:46.8,&quot;top&quot;:108,&quot;width&quot;:406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2110</Words>
  <Application>Microsoft Office PowerPoint</Application>
  <PresentationFormat>On-screen Show (16:9)</PresentationFormat>
  <Paragraphs>608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Arial Black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FashionHub Ghana - Complete Data Strategy</dc:title>
  <dc:subject>PptxGenJS Presentation</dc:subject>
  <dc:creator>Data Strategy Consultant</dc:creator>
  <cp:lastModifiedBy>Samson Ayamga</cp:lastModifiedBy>
  <cp:revision>15</cp:revision>
  <dcterms:created xsi:type="dcterms:W3CDTF">2026-02-11T12:34:00Z</dcterms:created>
  <dcterms:modified xsi:type="dcterms:W3CDTF">2026-02-18T10:36:37Z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C1A9FC22725D4AB0A46E7886B4585720_13</vt:lpwstr>
  </property>
  <property fmtid="{D5CDD505-2E9C-101B-9397-08002B2CF9AE}" pid="3" name="KSOProductBuildVer">
    <vt:lpwstr>2057-12.2.0.23197</vt:lpwstr>
  </property>
</Properties>
</file>